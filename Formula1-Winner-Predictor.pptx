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6"/>
  </p:notesMasterIdLst>
  <p:handoutMasterIdLst>
    <p:handoutMasterId r:id="rId17"/>
  </p:handoutMasterIdLst>
  <p:sldIdLst>
    <p:sldId id="312" r:id="rId5"/>
    <p:sldId id="304" r:id="rId6"/>
    <p:sldId id="307" r:id="rId7"/>
    <p:sldId id="281" r:id="rId8"/>
    <p:sldId id="282" r:id="rId9"/>
    <p:sldId id="313" r:id="rId10"/>
    <p:sldId id="314" r:id="rId11"/>
    <p:sldId id="315" r:id="rId12"/>
    <p:sldId id="316" r:id="rId13"/>
    <p:sldId id="317" r:id="rId14"/>
    <p:sldId id="297" r:id="rId15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388" autoAdjust="0"/>
  </p:normalViewPr>
  <p:slideViewPr>
    <p:cSldViewPr snapToGrid="0" snapToObjects="1">
      <p:cViewPr varScale="1">
        <p:scale>
          <a:sx n="108" d="100"/>
          <a:sy n="108" d="100"/>
        </p:scale>
        <p:origin x="654" y="10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D4BE7-ECC0-79DD-082D-EC080654F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67FCAA-390C-B55B-E356-5109E51067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A87FB1-8005-7BA1-337F-EBE586937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7830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Formula 1 Winner predictor</a:t>
            </a:r>
            <a:br>
              <a:rPr lang="en-US" dirty="0"/>
            </a:br>
            <a:r>
              <a:rPr lang="en-US" sz="1600" b="0" dirty="0"/>
              <a:t>by Krissh Diwedy</a:t>
            </a:r>
            <a:br>
              <a:rPr lang="en-US" sz="1600" b="0" dirty="0"/>
            </a:br>
            <a:r>
              <a:rPr lang="en-US" sz="1600" b="0"/>
              <a:t>Dev Dhara</a:t>
            </a:r>
            <a:br>
              <a:rPr lang="en-US" sz="1600" b="0" dirty="0"/>
            </a:br>
            <a:r>
              <a:rPr lang="en-US" sz="1600" b="0" dirty="0"/>
              <a:t>Samardeep Singh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Project Description </a:t>
            </a:r>
          </a:p>
          <a:p>
            <a:r>
              <a:rPr lang="en-US" dirty="0"/>
              <a:t>Experiments Performed </a:t>
            </a:r>
          </a:p>
          <a:p>
            <a:r>
              <a:rPr lang="en-US" dirty="0"/>
              <a:t>Practical 1</a:t>
            </a:r>
          </a:p>
          <a:p>
            <a:r>
              <a:rPr lang="en-US" dirty="0"/>
              <a:t>Practical 2</a:t>
            </a:r>
          </a:p>
          <a:p>
            <a:r>
              <a:rPr lang="en-US" dirty="0"/>
              <a:t>Practical 3</a:t>
            </a:r>
          </a:p>
          <a:p>
            <a:r>
              <a:rPr lang="en-US" dirty="0"/>
              <a:t>Practical 4</a:t>
            </a:r>
          </a:p>
          <a:p>
            <a:r>
              <a:rPr lang="en-US" dirty="0"/>
              <a:t>Practical 5</a:t>
            </a: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4AC57C1-8581-CEED-3100-2F9121DCA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Description</a:t>
            </a:r>
            <a:endParaRPr lang="en-IN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DA6424E-9C7B-690C-3320-F1A3092EC9DB}"/>
              </a:ext>
            </a:extLst>
          </p:cNvPr>
          <p:cNvSpPr txBox="1">
            <a:spLocks/>
          </p:cNvSpPr>
          <p:nvPr/>
        </p:nvSpPr>
        <p:spPr>
          <a:xfrm>
            <a:off x="470516" y="372862"/>
            <a:ext cx="4758432" cy="5953208"/>
          </a:xfrm>
          <a:prstGeom prst="rect">
            <a:avLst/>
          </a:prstGeom>
        </p:spPr>
        <p:txBody>
          <a:bodyPr>
            <a:normAutofit/>
          </a:bodyPr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Formula 1 is one of the most data-heavy sports, where countless factors driver skill, car performance, track type, and even weather combine to decide who wins a race.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Predicting race winners is a tough but exciting challenge, since it pushes machine learning to deal with complex, real-world data.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The goal is to build a model that can forecast the winner of a race before lights out. We treat this as a multi-class classification problem where the label is the winning driver among all participants.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Only pre-race information like qualifying positions, track features, historical stats, and team performance is used for prediction.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Experiments performed till now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Performing Pandas and </a:t>
            </a:r>
            <a:r>
              <a:rPr lang="en-US" dirty="0" err="1"/>
              <a:t>Numpy</a:t>
            </a:r>
            <a:r>
              <a:rPr lang="en-US" dirty="0"/>
              <a:t> Operations</a:t>
            </a:r>
          </a:p>
          <a:p>
            <a:r>
              <a:rPr lang="en-US" dirty="0"/>
              <a:t>Visualizing Data to Identify Possible Features </a:t>
            </a:r>
          </a:p>
          <a:p>
            <a:r>
              <a:rPr lang="en-US" dirty="0"/>
              <a:t>Preprocessing of Gathered Data</a:t>
            </a:r>
          </a:p>
          <a:p>
            <a:r>
              <a:rPr lang="en-US" dirty="0"/>
              <a:t>Performing Linear and Polynomial Regression</a:t>
            </a:r>
          </a:p>
          <a:p>
            <a:r>
              <a:rPr lang="en-US" dirty="0"/>
              <a:t>Applying Naïve Bayes</a:t>
            </a: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8208" y="195861"/>
            <a:ext cx="7965461" cy="994164"/>
          </a:xfrm>
        </p:spPr>
        <p:txBody>
          <a:bodyPr/>
          <a:lstStyle/>
          <a:p>
            <a:r>
              <a:rPr lang="en-US" dirty="0"/>
              <a:t>Practical 1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7C467FC-7DEE-EE4F-AB3F-9DEEB9B349BA}"/>
              </a:ext>
            </a:extLst>
          </p:cNvPr>
          <p:cNvSpPr txBox="1">
            <a:spLocks/>
          </p:cNvSpPr>
          <p:nvPr/>
        </p:nvSpPr>
        <p:spPr>
          <a:xfrm>
            <a:off x="2688208" y="941484"/>
            <a:ext cx="4769035" cy="497082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800" b="0" dirty="0"/>
              <a:t>Pandas and NumPy operations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4B1357-CC25-481C-55B4-812A24031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0533" y="1871446"/>
            <a:ext cx="2501698" cy="10383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A82E36-5DA5-BA65-AEB8-2F01752552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042" y="1871445"/>
            <a:ext cx="7487695" cy="10383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E51008-07FC-4F94-57ED-35EB603173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5167" y="3493312"/>
            <a:ext cx="2276793" cy="26959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C8A3ED8-ABC5-3911-6FDB-6C6D7AB2CF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1153" y="3493312"/>
            <a:ext cx="2934109" cy="27626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7A7578D-E0A6-748F-22C7-6EA5AB9633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3186" y="3493312"/>
            <a:ext cx="2734057" cy="187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8BEB1-8019-3A41-5554-0038CE3FD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95445-4BD2-66B8-6613-CA525CEBF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610" y="26886"/>
            <a:ext cx="9879437" cy="980844"/>
          </a:xfrm>
        </p:spPr>
        <p:txBody>
          <a:bodyPr/>
          <a:lstStyle/>
          <a:p>
            <a:r>
              <a:rPr lang="en-US" dirty="0"/>
              <a:t>Practical 2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6B3CA7-B127-D4C6-CB57-FF53FFF29156}"/>
              </a:ext>
            </a:extLst>
          </p:cNvPr>
          <p:cNvSpPr txBox="1">
            <a:spLocks/>
          </p:cNvSpPr>
          <p:nvPr/>
        </p:nvSpPr>
        <p:spPr>
          <a:xfrm>
            <a:off x="1624758" y="776520"/>
            <a:ext cx="4769035" cy="497082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800" b="0" dirty="0"/>
              <a:t>Visualizing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3B40B0-70BA-882F-B262-A6794DE01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42157"/>
            <a:ext cx="5424516" cy="30770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22455E4-12BB-AFDD-3623-D227A1F636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198" y="1740158"/>
            <a:ext cx="4500979" cy="466951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F74FBFC-7E74-4288-4939-2403C4C58A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38759"/>
            <a:ext cx="5089864" cy="284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793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7556C-6161-90D0-FB78-6F9E2DA0B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646" y="180288"/>
            <a:ext cx="7796464" cy="618837"/>
          </a:xfrm>
        </p:spPr>
        <p:txBody>
          <a:bodyPr/>
          <a:lstStyle/>
          <a:p>
            <a:r>
              <a:rPr lang="en-US" dirty="0"/>
              <a:t>Practical 3</a:t>
            </a:r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DDE3F0-A476-8880-BAB9-0D12F4A64F46}"/>
              </a:ext>
            </a:extLst>
          </p:cNvPr>
          <p:cNvSpPr txBox="1">
            <a:spLocks/>
          </p:cNvSpPr>
          <p:nvPr/>
        </p:nvSpPr>
        <p:spPr>
          <a:xfrm>
            <a:off x="270646" y="550584"/>
            <a:ext cx="4769035" cy="497082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800" b="0" dirty="0"/>
              <a:t>Data preprocessing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3BC651-81ED-4FE9-7E0F-33C4C3EF1B2C}"/>
              </a:ext>
            </a:extLst>
          </p:cNvPr>
          <p:cNvSpPr txBox="1">
            <a:spLocks/>
          </p:cNvSpPr>
          <p:nvPr/>
        </p:nvSpPr>
        <p:spPr>
          <a:xfrm>
            <a:off x="270646" y="1417962"/>
            <a:ext cx="1788973" cy="497082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800" b="0" dirty="0"/>
              <a:t>Before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A53E51-C52D-B551-6D02-B63026EB5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335" y="3611098"/>
            <a:ext cx="3528559" cy="14645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C74EA8-6557-1F7E-F816-44CFFC7CA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031" y="2173285"/>
            <a:ext cx="8505906" cy="117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749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9608DF9-91B7-6973-7B6D-DE01CE5C1F3C}"/>
              </a:ext>
            </a:extLst>
          </p:cNvPr>
          <p:cNvSpPr txBox="1">
            <a:spLocks/>
          </p:cNvSpPr>
          <p:nvPr/>
        </p:nvSpPr>
        <p:spPr>
          <a:xfrm>
            <a:off x="636233" y="1213775"/>
            <a:ext cx="1788973" cy="497082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800" b="0" dirty="0"/>
              <a:t>After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75C057-1ADB-3E09-1F0A-0F9627E22E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272"/>
          <a:stretch>
            <a:fillRect/>
          </a:stretch>
        </p:blipFill>
        <p:spPr>
          <a:xfrm>
            <a:off x="636233" y="2105902"/>
            <a:ext cx="10919534" cy="2646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370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F12F2-D7FB-3AF4-C6A5-0C57D67FA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235" y="647096"/>
            <a:ext cx="7631709" cy="636593"/>
          </a:xfrm>
        </p:spPr>
        <p:txBody>
          <a:bodyPr/>
          <a:lstStyle/>
          <a:p>
            <a:r>
              <a:rPr lang="en-US" dirty="0"/>
              <a:t>Practical 4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E6F33E-6803-1479-F707-2F707A20D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43" y="1688193"/>
            <a:ext cx="9972583" cy="468895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CF2A4B1-663E-487A-80A1-1707A1C2997D}"/>
              </a:ext>
            </a:extLst>
          </p:cNvPr>
          <p:cNvSpPr txBox="1">
            <a:spLocks/>
          </p:cNvSpPr>
          <p:nvPr/>
        </p:nvSpPr>
        <p:spPr>
          <a:xfrm>
            <a:off x="781235" y="1051600"/>
            <a:ext cx="5495278" cy="497082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800" dirty="0"/>
              <a:t>Linear and polynomial regression</a:t>
            </a:r>
          </a:p>
        </p:txBody>
      </p:sp>
    </p:spTree>
    <p:extLst>
      <p:ext uri="{BB962C8B-B14F-4D97-AF65-F5344CB8AC3E}">
        <p14:creationId xmlns:p14="http://schemas.microsoft.com/office/powerpoint/2010/main" val="1712817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DF4BB-AAB8-D16D-6D10-2B4F63B9C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04" y="346229"/>
            <a:ext cx="7796464" cy="645470"/>
          </a:xfrm>
        </p:spPr>
        <p:txBody>
          <a:bodyPr/>
          <a:lstStyle/>
          <a:p>
            <a:r>
              <a:rPr lang="en-US" dirty="0"/>
              <a:t>Practical 5</a:t>
            </a:r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4C1DDE1-817A-38C8-18E2-C1862987B6C0}"/>
              </a:ext>
            </a:extLst>
          </p:cNvPr>
          <p:cNvSpPr txBox="1">
            <a:spLocks/>
          </p:cNvSpPr>
          <p:nvPr/>
        </p:nvSpPr>
        <p:spPr>
          <a:xfrm>
            <a:off x="435004" y="814179"/>
            <a:ext cx="4769035" cy="497082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800" b="0" dirty="0"/>
              <a:t>Naïve Bayes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9C3DB4-6C93-7F70-1C8A-EBDC768EE2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936"/>
          <a:stretch>
            <a:fillRect/>
          </a:stretch>
        </p:blipFill>
        <p:spPr>
          <a:xfrm>
            <a:off x="639190" y="2752152"/>
            <a:ext cx="6197461" cy="168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45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1406464"/>
          </a:xfrm>
        </p:spPr>
        <p:txBody>
          <a:bodyPr/>
          <a:lstStyle/>
          <a:p>
            <a:r>
              <a:rPr lang="en-US" dirty="0"/>
              <a:t>Krissh Diwedy – 1/23/SET/BCS/405</a:t>
            </a:r>
          </a:p>
          <a:p>
            <a:r>
              <a:rPr lang="en-US" dirty="0"/>
              <a:t>Dev Dhara – 1/23/SET/BCS/381</a:t>
            </a:r>
          </a:p>
          <a:p>
            <a:r>
              <a:rPr lang="en-US" dirty="0"/>
              <a:t>Samardeep Singh – 1/23/SET/BCS/383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color block</Template>
  <TotalTime>49</TotalTime>
  <Words>232</Words>
  <Application>Microsoft Office PowerPoint</Application>
  <PresentationFormat>Widescreen</PresentationFormat>
  <Paragraphs>39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Sabon Next LT</vt:lpstr>
      <vt:lpstr>Custom</vt:lpstr>
      <vt:lpstr>Formula 1 Winner predictor by Krissh Diwedy Dev Dhara Samardeep Singh</vt:lpstr>
      <vt:lpstr>Index</vt:lpstr>
      <vt:lpstr>Project Description</vt:lpstr>
      <vt:lpstr>Experiments performed till now</vt:lpstr>
      <vt:lpstr>Practical 1</vt:lpstr>
      <vt:lpstr>Practical 2</vt:lpstr>
      <vt:lpstr>Practical 3</vt:lpstr>
      <vt:lpstr>PowerPoint Presentation</vt:lpstr>
      <vt:lpstr>Practical 4</vt:lpstr>
      <vt:lpstr>Practical 5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Krissh Diwedy</dc:creator>
  <cp:lastModifiedBy>Krissh Diwedy</cp:lastModifiedBy>
  <cp:revision>2</cp:revision>
  <dcterms:created xsi:type="dcterms:W3CDTF">2025-10-26T21:19:38Z</dcterms:created>
  <dcterms:modified xsi:type="dcterms:W3CDTF">2025-10-26T22:11:06Z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